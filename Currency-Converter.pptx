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6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13"/>
    <a:srgbClr val="262626"/>
    <a:srgbClr val="182820"/>
    <a:srgbClr val="1A2821"/>
    <a:srgbClr val="0D1D13"/>
    <a:srgbClr val="0B1C12"/>
    <a:srgbClr val="1E1F20"/>
    <a:srgbClr val="183A13"/>
    <a:srgbClr val="FFFFFF"/>
    <a:srgbClr val="0A16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766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C2057-5382-43E4-F307-4D5F7C403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A28E53-DE63-C8DB-C5AC-19732DC93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19204E-F70C-3611-60CF-328A6A14A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230D5E-3A6F-3532-D8EF-8C4FC110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EEBA7C-7682-53DA-390D-495B9569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79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DACAF-B786-E05F-1177-56741372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0FF8F1-94A1-55E8-7BE7-91A9C5D06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FAA0B9-1A7A-EAA3-5A43-1E13B71D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B834DD-7F2D-9B6D-7E2F-4D4B3368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E7465F-D858-1AEC-F216-13CBB2FF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291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8A011-67F0-CD18-6BF5-BEC1E4ED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F13C62-5CCF-A877-5D82-E42AF02DC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FFAA64-DF52-CFD0-16D9-6EB9828E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1160C-35DC-ECB1-47AE-8F9C74EF5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5B2503-A497-7D21-221B-BE944CE1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292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33484-24A9-142A-08CD-FC5DAE7B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D61CE4-7BBA-9A88-B6A5-78E7793F8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1637C8F-C59E-06CD-F3FB-15216A57C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8422A8-2A2F-C740-2283-E744D7C6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63AAB2-A263-79CD-082C-B3596122D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BBD233-3CE2-9E2A-F399-D80168F1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78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4AB3D-02BF-CDD9-E98D-06C06F6F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1AD949-A748-5EEB-F49E-7769F407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534D51-4BC8-8237-DD0E-C0DC0B0615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4381EF-5368-E1E7-5CAC-F7CB18186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1507A5-3ED8-9245-99D9-14A789684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CC2117-2CFA-E154-E303-964A7635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5BF1B8-E933-51F7-2E1D-238F9780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6E38C6-73AC-9191-3D1C-6C059424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038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694B6-FFFD-0292-8DC9-3F6A7786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46E2870-E60B-DD41-055D-659A49D9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ED70BA-EDF4-45AA-7EAC-EFDB8182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0769FC-558E-E192-2680-C7381476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535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9AD317-948C-9386-CA8D-1D7CC28D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74B245-9E09-093D-7139-94571A08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332349-3DE1-2F37-174C-C372DD7F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827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08320-BDB9-E318-776A-E1C699E4A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3B67F6-5204-8BC1-FC39-04583297B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E20880-FEAC-328F-2F7D-7D3A15D6D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12BDBE-1BD5-4326-C472-4A7A15C9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23A7BE-B2D1-2DF1-19D9-632A65C9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53DAF1-7927-8680-F893-570BA6DA6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622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5C1A7-E9C7-363A-C8A2-3B78BE56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21A6708-C48D-3F3F-8F4C-C1ABA3F49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6B9991-DFC6-3534-C5D4-C6B0D422A9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AD867-F3C8-0C9B-9D68-AF53E9F91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D9097-23C8-74D2-C138-E6709B30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34FFAC-6023-E310-C5A3-E063B30D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0982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2AC220-01E8-D4F3-25BA-5FBDCB6A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CD67269-99D3-CC92-AD8E-D82BE9DB2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91761-ECD9-39B0-9357-D783EF803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03F564-0026-F2E3-47CB-B28EA12E8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042A8E-31C0-2B20-9E56-07160FB5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280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6093590-4A6A-52D8-C492-627D5BCDE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CE630D-CC17-BFDA-C727-7CBBD5655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165CF8-8C9B-CD9C-B3D8-D99CF3F4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F274C2-146A-560C-5F00-417FE1A6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A334B6-03CE-C460-00C6-6E377EFA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94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8C82D-B6FB-156D-0464-822B8198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0E6DE4-7BEF-A48B-D11A-4BE64EC8A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AC696-225E-4859-EF55-4681CD7D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defTabSz="1097280">
              <a:defRPr/>
            </a:pPr>
            <a:fld id="{D3BC1BD8-C3A4-4F04-BF1F-0C1917F95CC8}" type="datetimeFigureOut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16.04.2026</a:t>
            </a:fld>
            <a:endParaRPr lang="ru-RU" dirty="0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011124-026A-0D07-1218-498E374BE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defTabSz="1097280">
              <a:defRPr/>
            </a:pPr>
            <a:endParaRPr lang="ru-RU" dirty="0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57494D-FB04-08E3-9FCC-1FA39AF29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defTabSz="1097280">
              <a:defRPr/>
            </a:pPr>
            <a:fld id="{07D1F581-223B-4D6A-A7AF-C7D0EBEA3764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 defTabSz="1097280">
                <a:defRPr/>
              </a:pPr>
              <a:t>‹#›</a:t>
            </a:fld>
            <a:endParaRPr lang="ru-RU" dirty="0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9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18C5A-B68A-432C-C17E-E02D2DE5F45C}"/>
              </a:ext>
            </a:extLst>
          </p:cNvPr>
          <p:cNvSpPr txBox="1"/>
          <p:nvPr/>
        </p:nvSpPr>
        <p:spPr>
          <a:xfrm>
            <a:off x="787399" y="730291"/>
            <a:ext cx="1305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97280">
              <a:defRPr/>
            </a:pPr>
            <a:r>
              <a:rPr lang="ru-RU" sz="24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Государственное бюджетное профессиональное образовательное учреждение Московской области «Физтех-колледж»(ГБПОУ МО «Физтех-колледж»)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5E5DE-6B57-07EB-80E8-AA0B028A335F}"/>
              </a:ext>
            </a:extLst>
          </p:cNvPr>
          <p:cNvSpPr txBox="1"/>
          <p:nvPr/>
        </p:nvSpPr>
        <p:spPr>
          <a:xfrm>
            <a:off x="2411362" y="3671602"/>
            <a:ext cx="10264877" cy="14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ts val="5500"/>
              </a:lnSpc>
              <a:buNone/>
            </a:pPr>
            <a:r>
              <a:rPr lang="ru-RU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Конвертор валют. </a:t>
            </a:r>
          </a:p>
          <a:p>
            <a:pPr marL="0" indent="0" algn="ctr">
              <a:lnSpc>
                <a:spcPts val="55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Currency Converter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D77ED-36BB-26C0-6A8B-88B5BAF8FF7E}"/>
              </a:ext>
            </a:extLst>
          </p:cNvPr>
          <p:cNvSpPr txBox="1"/>
          <p:nvPr/>
        </p:nvSpPr>
        <p:spPr>
          <a:xfrm>
            <a:off x="10060035" y="6465181"/>
            <a:ext cx="4570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97280">
              <a:defRPr/>
            </a:pPr>
            <a:r>
              <a:rPr lang="ru-RU" sz="24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 студент 2 курса</a:t>
            </a:r>
          </a:p>
          <a:p>
            <a:pPr defTabSz="1097280">
              <a:defRPr/>
            </a:pPr>
            <a:r>
              <a:rPr lang="ru-RU" sz="240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Батиев</a:t>
            </a:r>
            <a:r>
              <a:rPr lang="ru-RU" sz="240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Всеволод Владимирович</a:t>
            </a:r>
          </a:p>
        </p:txBody>
      </p:sp>
    </p:spTree>
    <p:extLst>
      <p:ext uri="{BB962C8B-B14F-4D97-AF65-F5344CB8AC3E}">
        <p14:creationId xmlns:p14="http://schemas.microsoft.com/office/powerpoint/2010/main" val="1819360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04378" y="2940486"/>
            <a:ext cx="573524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Currency Converter</a:t>
            </a:r>
            <a:endParaRPr lang="en-US" sz="4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3798" y="3919418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ru-RU" sz="20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Современный десктопный конвертер валют с поддержкой СНГ-валют и интуитивным интерфейсом в темных тонах</a:t>
            </a:r>
            <a:endParaRPr lang="en-US" sz="1900" i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63798" y="4937403"/>
            <a:ext cx="2239328" cy="444103"/>
          </a:xfrm>
          <a:prstGeom prst="roundRect">
            <a:avLst>
              <a:gd name="adj" fmla="val 6670"/>
            </a:avLst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1011793" y="5011341"/>
            <a:ext cx="1943338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C5F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· TKINTER · API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961F10-70F3-43A5-BE7B-8A4DD8C31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091" y="0"/>
            <a:ext cx="578630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50198" y="819269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Зачем нужен Currency Converter?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50198" y="2591991"/>
            <a:ext cx="3584734" cy="2831187"/>
          </a:xfrm>
          <a:prstGeom prst="roundRect">
            <a:avLst>
              <a:gd name="adj" fmla="val 1308"/>
            </a:avLst>
          </a:prstGeom>
          <a:solidFill>
            <a:srgbClr val="16261E"/>
          </a:solidFill>
          <a:ln/>
        </p:spPr>
      </p:sp>
      <p:sp>
        <p:nvSpPr>
          <p:cNvPr id="5" name="Text 2"/>
          <p:cNvSpPr/>
          <p:nvPr/>
        </p:nvSpPr>
        <p:spPr>
          <a:xfrm>
            <a:off x="6597015" y="2838807"/>
            <a:ext cx="3091101" cy="70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Мгновенный</a:t>
            </a: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доступ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97015" y="3695700"/>
            <a:ext cx="3091101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ru-RU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Запуск в один клик — получение курса за доли секунды без лишних поисков в сети</a:t>
            </a:r>
            <a:endParaRPr lang="en-US" sz="19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81749" y="2591991"/>
            <a:ext cx="3584853" cy="2831187"/>
          </a:xfrm>
          <a:prstGeom prst="roundRect">
            <a:avLst>
              <a:gd name="adj" fmla="val 1308"/>
            </a:avLst>
          </a:prstGeom>
          <a:solidFill>
            <a:srgbClr val="16261E"/>
          </a:solidFill>
          <a:ln/>
        </p:spPr>
      </p:sp>
      <p:sp>
        <p:nvSpPr>
          <p:cNvPr id="8" name="Text 5"/>
          <p:cNvSpPr/>
          <p:nvPr/>
        </p:nvSpPr>
        <p:spPr>
          <a:xfrm>
            <a:off x="10428565" y="2838807"/>
            <a:ext cx="3091220" cy="70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Ориентир на СНГ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28565" y="3695700"/>
            <a:ext cx="309122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Встроенная поддержка RUB, KZT, BYN — актуально для русскоязычной аудитории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350198" y="5669994"/>
            <a:ext cx="7416403" cy="1740218"/>
          </a:xfrm>
          <a:prstGeom prst="roundRect">
            <a:avLst>
              <a:gd name="adj" fmla="val 2128"/>
            </a:avLst>
          </a:prstGeom>
          <a:solidFill>
            <a:srgbClr val="16261E"/>
          </a:solidFill>
          <a:ln/>
        </p:spPr>
      </p:sp>
      <p:sp>
        <p:nvSpPr>
          <p:cNvPr id="11" name="Text 8"/>
          <p:cNvSpPr/>
          <p:nvPr/>
        </p:nvSpPr>
        <p:spPr>
          <a:xfrm>
            <a:off x="6597015" y="5916811"/>
            <a:ext cx="2804874" cy="358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Тёмная тема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97015" y="6423065"/>
            <a:ext cx="692277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Комфортная работа в любое время суток без нагрузки на зрение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7D4D9F-9588-4023-8974-285EB47694BC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DB6CBD-F542-41B0-B89E-0A2DD983A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1168"/>
          <a:stretch/>
        </p:blipFill>
        <p:spPr>
          <a:xfrm>
            <a:off x="120601" y="0"/>
            <a:ext cx="5229875" cy="228631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D653586-ADD6-4BBD-B61A-38E3EA67D1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1" r="1328"/>
          <a:stretch/>
        </p:blipFill>
        <p:spPr>
          <a:xfrm>
            <a:off x="118102" y="2286319"/>
            <a:ext cx="5220017" cy="199100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4614E8-919C-42C2-B725-3ABC2E5D1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01" y="4251267"/>
            <a:ext cx="5217518" cy="3978333"/>
          </a:xfrm>
          <a:prstGeom prst="rect">
            <a:avLst/>
          </a:prstGeom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04E86C04-10E9-446D-A05D-D8A75FE46588}"/>
              </a:ext>
            </a:extLst>
          </p:cNvPr>
          <p:cNvCxnSpPr/>
          <p:nvPr/>
        </p:nvCxnSpPr>
        <p:spPr>
          <a:xfrm>
            <a:off x="118102" y="4251267"/>
            <a:ext cx="5294158" cy="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66565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Стек технологий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161228"/>
            <a:ext cx="1317427" cy="8141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428386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3.x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3798" y="4782503"/>
            <a:ext cx="29943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Основа проекта — читаемый синтаксис и богатая экосистема библиотек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592" y="3161228"/>
            <a:ext cx="1317427" cy="8141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6592" y="428386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 (ttk)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166592" y="4782503"/>
            <a:ext cx="29943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Стандартный GUI-фреймворк для создания кроссплатформенного десктопного интерфейса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386" y="3161228"/>
            <a:ext cx="1317427" cy="8141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9386" y="428386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Requests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469386" y="4782503"/>
            <a:ext cx="29943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HTTP-библиотека для работы с внешним REST API и получения актуальных котировок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180" y="3161228"/>
            <a:ext cx="1317546" cy="8142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2180" y="428398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Threading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772180" y="4782622"/>
            <a:ext cx="2994422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Многопоточность гарантирует плавную работу UI во время сетевых запросов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E88D02-C02B-4932-BA61-E8ACFACA441B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0F417EA-2E3F-4DCD-AEFA-41EA1A3FA91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7231" r="18991" b="12147"/>
          <a:stretch/>
        </p:blipFill>
        <p:spPr>
          <a:xfrm>
            <a:off x="863798" y="2667595"/>
            <a:ext cx="2044461" cy="1443850"/>
          </a:xfrm>
          <a:prstGeom prst="rect">
            <a:avLst/>
          </a:prstGeom>
          <a:solidFill>
            <a:srgbClr val="111213"/>
          </a:solidFill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3ED272D-34B8-42A9-BD0B-91F71A636C71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/>
          <a:stretch/>
        </p:blipFill>
        <p:spPr>
          <a:xfrm>
            <a:off x="4166592" y="2667595"/>
            <a:ext cx="2194817" cy="144531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5D4E6B4-ADA8-4999-BA03-EFB3A9C36A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4620" y="2667594"/>
            <a:ext cx="1622883" cy="144385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241A829-DD34-46D4-9F3F-7BDEC745C33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4008" r="15339"/>
          <a:stretch/>
        </p:blipFill>
        <p:spPr>
          <a:xfrm>
            <a:off x="10772180" y="2667594"/>
            <a:ext cx="1878227" cy="14438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91208"/>
            <a:ext cx="129028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Чёткость на любом мониторе: настройка DPI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311074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Зачем это важно?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3708202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мониторах с высоким разрешением (HiDPI, 4K) интерфейс может размываться. Одна строка кода устраняет этот эффект — приложение выглядит резко на любом дисплее.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3798" y="5466517"/>
            <a:ext cx="6150293" cy="1394222"/>
          </a:xfrm>
          <a:prstGeom prst="roundRect">
            <a:avLst>
              <a:gd name="adj" fmla="val 2656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15" y="5818108"/>
            <a:ext cx="308491" cy="246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5923" y="5775008"/>
            <a:ext cx="510135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Вызов выполняется при старте — до создания окна Tkinter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3929" y="3141583"/>
            <a:ext cx="6150293" cy="2344460"/>
          </a:xfrm>
          <a:prstGeom prst="roundRect">
            <a:avLst>
              <a:gd name="adj" fmla="val 1579"/>
            </a:avLst>
          </a:prstGeom>
          <a:solidFill>
            <a:srgbClr val="1E1F20"/>
          </a:solidFill>
          <a:ln/>
        </p:spPr>
      </p:sp>
      <p:sp>
        <p:nvSpPr>
          <p:cNvPr id="9" name="Shape 6"/>
          <p:cNvSpPr/>
          <p:nvPr/>
        </p:nvSpPr>
        <p:spPr>
          <a:xfrm>
            <a:off x="7611666" y="3141583"/>
            <a:ext cx="6174819" cy="2344460"/>
          </a:xfrm>
          <a:prstGeom prst="roundRect">
            <a:avLst>
              <a:gd name="adj" fmla="val 1579"/>
            </a:avLst>
          </a:prstGeom>
          <a:solidFill>
            <a:srgbClr val="1E1F20"/>
          </a:solidFill>
          <a:ln/>
        </p:spPr>
      </p:sp>
      <p:sp>
        <p:nvSpPr>
          <p:cNvPr id="10" name="Text 7"/>
          <p:cNvSpPr/>
          <p:nvPr/>
        </p:nvSpPr>
        <p:spPr>
          <a:xfrm>
            <a:off x="7920157" y="3388400"/>
            <a:ext cx="5557838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try: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ctypes.windll.shcore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.SetProcessDpiAwareness(1)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 Exception: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AA9D4-1D16-4025-B710-97628F07FA30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59029"/>
            <a:ext cx="9418796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Единый стиль: палитра цветов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3108127"/>
            <a:ext cx="6150293" cy="3084790"/>
          </a:xfrm>
          <a:prstGeom prst="roundRect">
            <a:avLst>
              <a:gd name="adj" fmla="val 1200"/>
            </a:avLst>
          </a:prstGeom>
          <a:solidFill>
            <a:srgbClr val="1E1F20"/>
          </a:solidFill>
          <a:ln/>
        </p:spPr>
      </p:sp>
      <p:sp>
        <p:nvSpPr>
          <p:cNvPr id="4" name="Shape 2"/>
          <p:cNvSpPr/>
          <p:nvPr/>
        </p:nvSpPr>
        <p:spPr>
          <a:xfrm>
            <a:off x="851535" y="3108127"/>
            <a:ext cx="6174819" cy="3084790"/>
          </a:xfrm>
          <a:prstGeom prst="roundRect">
            <a:avLst>
              <a:gd name="adj" fmla="val 1200"/>
            </a:avLst>
          </a:prstGeom>
          <a:solidFill>
            <a:srgbClr val="1E1F20"/>
          </a:solidFill>
          <a:ln/>
        </p:spPr>
      </p:sp>
      <p:sp>
        <p:nvSpPr>
          <p:cNvPr id="5" name="Text 3"/>
          <p:cNvSpPr/>
          <p:nvPr/>
        </p:nvSpPr>
        <p:spPr>
          <a:xfrm>
            <a:off x="1160026" y="3354943"/>
            <a:ext cx="5557838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self.colors = {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'bg':     '#0a1610',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'card':   '#16261e',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'accent': '#c5f031',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'text':   '#ffffff',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'border': '#2a3b30'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A657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3929" y="3077289"/>
            <a:ext cx="480738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Дизайн-система через словарь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3929" y="3674745"/>
            <a:ext cx="6150293" cy="113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Все цвета хранятся в одном словаре и применяются через </a:t>
            </a:r>
            <a:r>
              <a:rPr lang="en-US" sz="1900" dirty="0">
                <a:solidFill>
                  <a:srgbClr val="E2E6E9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self.colors[key]</a:t>
            </a: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Это исключает «магические строки» и позволяет легко менять тему.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2589" y="5030153"/>
            <a:ext cx="6211633" cy="1283137"/>
          </a:xfrm>
          <a:prstGeom prst="rect">
            <a:avLst/>
          </a:prstGeom>
          <a:solidFill>
            <a:srgbClr val="1E1F20"/>
          </a:solidFill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ru-RU" sz="1900" b="1" dirty="0">
                <a:solidFill>
                  <a:srgbClr val="C5F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>
                <a:solidFill>
                  <a:srgbClr val="C5F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#C5F031</a:t>
            </a: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лаймовый акцент, кнопки и выделения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ru-RU" sz="19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#0A1610</a:t>
            </a: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основной фон, глубокий тёмно-зелёный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ru-RU" sz="19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#FFFFFFF</a:t>
            </a: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 основной текст, максимальный контраст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022BD-F0AF-4D74-963B-7F58157EA5FD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Блок-схема: узел 11">
            <a:extLst>
              <a:ext uri="{FF2B5EF4-FFF2-40B4-BE49-F238E27FC236}">
                <a16:creationId xmlns:a16="http://schemas.microsoft.com/office/drawing/2014/main" id="{5CBC5F7F-CB50-4073-A646-B6F6DC10B6D7}"/>
              </a:ext>
            </a:extLst>
          </p:cNvPr>
          <p:cNvSpPr/>
          <p:nvPr/>
        </p:nvSpPr>
        <p:spPr>
          <a:xfrm>
            <a:off x="7574852" y="5054918"/>
            <a:ext cx="327738" cy="350639"/>
          </a:xfrm>
          <a:prstGeom prst="flowChartConnector">
            <a:avLst/>
          </a:prstGeom>
          <a:solidFill>
            <a:srgbClr val="C5F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Блок-схема: узел 12">
            <a:extLst>
              <a:ext uri="{FF2B5EF4-FFF2-40B4-BE49-F238E27FC236}">
                <a16:creationId xmlns:a16="http://schemas.microsoft.com/office/drawing/2014/main" id="{FA1C8C63-2019-48AF-8CA4-C74EEF273B17}"/>
              </a:ext>
            </a:extLst>
          </p:cNvPr>
          <p:cNvSpPr/>
          <p:nvPr/>
        </p:nvSpPr>
        <p:spPr>
          <a:xfrm>
            <a:off x="7550326" y="5496401"/>
            <a:ext cx="327738" cy="350639"/>
          </a:xfrm>
          <a:prstGeom prst="flowChartConnector">
            <a:avLst/>
          </a:prstGeom>
          <a:solidFill>
            <a:srgbClr val="0A1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Блок-схема: узел 13">
            <a:extLst>
              <a:ext uri="{FF2B5EF4-FFF2-40B4-BE49-F238E27FC236}">
                <a16:creationId xmlns:a16="http://schemas.microsoft.com/office/drawing/2014/main" id="{F905ED07-694D-4196-B423-107C8885D55C}"/>
              </a:ext>
            </a:extLst>
          </p:cNvPr>
          <p:cNvSpPr/>
          <p:nvPr/>
        </p:nvSpPr>
        <p:spPr>
          <a:xfrm>
            <a:off x="7554621" y="5943342"/>
            <a:ext cx="327738" cy="350639"/>
          </a:xfrm>
          <a:prstGeom prst="flowChartConnector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73887"/>
            <a:ext cx="988040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UX-деталь: центрирование окна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2892147"/>
            <a:ext cx="427994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Профессиональный подход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3489603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Окно появляется точно по центру экрана — независимо от разрешения и масштаба. Это создаёт ощущение отполированного продукта с первого запуска.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3798" y="4877752"/>
            <a:ext cx="6150293" cy="1597189"/>
          </a:xfrm>
          <a:prstGeom prst="roundRect">
            <a:avLst>
              <a:gd name="adj" fmla="val 2656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15" y="5229344"/>
            <a:ext cx="308491" cy="246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5923" y="5186243"/>
            <a:ext cx="510135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Метод универсален — применяется для главного окна и всех диалогов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3929" y="2922984"/>
            <a:ext cx="6150293" cy="3454956"/>
          </a:xfrm>
          <a:prstGeom prst="roundRect">
            <a:avLst>
              <a:gd name="adj" fmla="val 1072"/>
            </a:avLst>
          </a:prstGeom>
          <a:solidFill>
            <a:srgbClr val="1E1F20"/>
          </a:solidFill>
          <a:ln/>
        </p:spPr>
      </p:sp>
      <p:sp>
        <p:nvSpPr>
          <p:cNvPr id="9" name="Shape 6"/>
          <p:cNvSpPr/>
          <p:nvPr/>
        </p:nvSpPr>
        <p:spPr>
          <a:xfrm>
            <a:off x="7611666" y="2922983"/>
            <a:ext cx="6174819" cy="3551957"/>
          </a:xfrm>
          <a:prstGeom prst="roundRect">
            <a:avLst>
              <a:gd name="adj" fmla="val 1072"/>
            </a:avLst>
          </a:prstGeom>
          <a:solidFill>
            <a:srgbClr val="1E1F20"/>
          </a:solidFill>
          <a:ln/>
        </p:spPr>
      </p:sp>
      <p:sp>
        <p:nvSpPr>
          <p:cNvPr id="10" name="Text 7"/>
          <p:cNvSpPr/>
          <p:nvPr/>
        </p:nvSpPr>
        <p:spPr>
          <a:xfrm>
            <a:off x="7920157" y="3169801"/>
            <a:ext cx="5557838" cy="330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 center_window(self, w, width, height):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sw = w.winfo_screenwidth()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 = w.winfo_screenheight()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= (sw // 2) - (width // 2)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= (sh // 2) - (height // 2)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w.geometry(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f"{width}x{height}+{x}+{y}"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7B72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13D45-FBD6-4557-85EB-56162972CA78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08447"/>
            <a:ext cx="975074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Работа с API: актуальные курсы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3798" y="2257544"/>
            <a:ext cx="6150293" cy="3084790"/>
          </a:xfrm>
          <a:prstGeom prst="roundRect">
            <a:avLst>
              <a:gd name="adj" fmla="val 1200"/>
            </a:avLst>
          </a:prstGeom>
          <a:solidFill>
            <a:srgbClr val="1E1F20"/>
          </a:solidFill>
          <a:ln/>
        </p:spPr>
      </p:sp>
      <p:sp>
        <p:nvSpPr>
          <p:cNvPr id="4" name="Shape 2"/>
          <p:cNvSpPr/>
          <p:nvPr/>
        </p:nvSpPr>
        <p:spPr>
          <a:xfrm>
            <a:off x="851535" y="2257544"/>
            <a:ext cx="6174819" cy="3084790"/>
          </a:xfrm>
          <a:prstGeom prst="roundRect">
            <a:avLst>
              <a:gd name="adj" fmla="val 1200"/>
            </a:avLst>
          </a:prstGeom>
          <a:solidFill>
            <a:srgbClr val="1E1F20"/>
          </a:solidFill>
          <a:ln/>
        </p:spPr>
      </p:sp>
      <p:sp>
        <p:nvSpPr>
          <p:cNvPr id="5" name="Text 3"/>
          <p:cNvSpPr/>
          <p:nvPr/>
        </p:nvSpPr>
        <p:spPr>
          <a:xfrm>
            <a:off x="1160026" y="2504361"/>
            <a:ext cx="5557838" cy="2591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url = (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"https://open.er-api.com"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f"/v6/latest/{base}"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= requests.get(url).json()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 = data["rates"][target]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= amt * rate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3929" y="2226707"/>
            <a:ext cx="381702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Exchange Rates API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3929" y="2824163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Бесплатный REST API возвращает актуальные курсы относительно базовой валюты. Приложение запрашивает нужную пару и мгновенно вычисляет итоговую сумму.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63798" y="5897642"/>
            <a:ext cx="6327934" cy="1423392"/>
          </a:xfrm>
          <a:prstGeom prst="roundRect">
            <a:avLst>
              <a:gd name="adj" fmla="val 2601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1095" y="6174938"/>
            <a:ext cx="306359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/v6/latest/{base}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1095" y="6673572"/>
            <a:ext cx="5773341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Возвращает JSON со всеми курсами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38549" y="5897642"/>
            <a:ext cx="6328053" cy="1423392"/>
          </a:xfrm>
          <a:prstGeom prst="roundRect">
            <a:avLst>
              <a:gd name="adj" fmla="val 2601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15845" y="6174938"/>
            <a:ext cx="295144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data["rates"][target]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15845" y="6673572"/>
            <a:ext cx="577346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Извлекает нужный коэффициент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15F738-0FB8-4AD2-B1F6-3D2FD9D6B976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51441" y="1212890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Многопоточность: UI никогда не зависает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851441" y="3263265"/>
            <a:ext cx="3407093" cy="2714625"/>
          </a:xfrm>
          <a:prstGeom prst="roundRect">
            <a:avLst>
              <a:gd name="adj" fmla="val 1364"/>
            </a:avLst>
          </a:prstGeom>
          <a:solidFill>
            <a:srgbClr val="1E1F20"/>
          </a:solidFill>
          <a:ln/>
        </p:spPr>
      </p:sp>
      <p:sp>
        <p:nvSpPr>
          <p:cNvPr id="5" name="Shape 2"/>
          <p:cNvSpPr/>
          <p:nvPr/>
        </p:nvSpPr>
        <p:spPr>
          <a:xfrm>
            <a:off x="839178" y="3263265"/>
            <a:ext cx="3431619" cy="3531275"/>
          </a:xfrm>
          <a:prstGeom prst="roundRect">
            <a:avLst>
              <a:gd name="adj" fmla="val 1364"/>
            </a:avLst>
          </a:prstGeom>
          <a:solidFill>
            <a:srgbClr val="1E1F20"/>
          </a:solidFill>
          <a:ln/>
        </p:spPr>
      </p:sp>
      <p:sp>
        <p:nvSpPr>
          <p:cNvPr id="6" name="Text 3"/>
          <p:cNvSpPr/>
          <p:nvPr/>
        </p:nvSpPr>
        <p:spPr>
          <a:xfrm>
            <a:off x="1147669" y="3510081"/>
            <a:ext cx="2814638" cy="297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threading.Thread(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target=self._fetch,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args=(amt, base, target),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daemon=True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).start()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68372" y="3263265"/>
            <a:ext cx="4044134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Почему это критично?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68372" y="4180523"/>
            <a:ext cx="3407093" cy="2614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Сетевой запрос может занять секунды. Без потока интерфейс «замерзал» бы на это время. Флаг </a:t>
            </a:r>
            <a:r>
              <a:rPr lang="en-US" sz="1900" dirty="0">
                <a:solidFill>
                  <a:srgbClr val="E2E6E9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daemon=True</a:t>
            </a: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гарантирует корректное завершение потока при закрытии приложения.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D0477-44CC-44DC-A87A-6183B8DAB6B2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056915E-A5F2-421C-BC2A-C86279DD1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08" t="2271" r="3364" b="2271"/>
          <a:stretch/>
        </p:blipFill>
        <p:spPr>
          <a:xfrm>
            <a:off x="10260225" y="-1"/>
            <a:ext cx="4370175" cy="8229601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D3E33B7-39BD-49ED-A576-19CC99B8A7F5}"/>
              </a:ext>
            </a:extLst>
          </p:cNvPr>
          <p:cNvSpPr/>
          <p:nvPr/>
        </p:nvSpPr>
        <p:spPr>
          <a:xfrm>
            <a:off x="14271800" y="7852410"/>
            <a:ext cx="349795" cy="377190"/>
          </a:xfrm>
          <a:prstGeom prst="rect">
            <a:avLst/>
          </a:prstGeom>
          <a:solidFill>
            <a:srgbClr val="0B1C12"/>
          </a:solidFill>
          <a:ln>
            <a:solidFill>
              <a:srgbClr val="0D1D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7FDCD15-1E5D-47BD-9F6F-EE8EBFA57CAC}"/>
              </a:ext>
            </a:extLst>
          </p:cNvPr>
          <p:cNvSpPr/>
          <p:nvPr/>
        </p:nvSpPr>
        <p:spPr>
          <a:xfrm>
            <a:off x="14123319" y="7787473"/>
            <a:ext cx="349794" cy="415527"/>
          </a:xfrm>
          <a:prstGeom prst="roundRect">
            <a:avLst/>
          </a:prstGeom>
          <a:solidFill>
            <a:srgbClr val="182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DC274F0-9181-4AE4-903F-FEA4F0D9FE9B}"/>
              </a:ext>
            </a:extLst>
          </p:cNvPr>
          <p:cNvSpPr/>
          <p:nvPr/>
        </p:nvSpPr>
        <p:spPr>
          <a:xfrm>
            <a:off x="14298216" y="7547680"/>
            <a:ext cx="175260" cy="655320"/>
          </a:xfrm>
          <a:prstGeom prst="roundRect">
            <a:avLst/>
          </a:prstGeom>
          <a:solidFill>
            <a:srgbClr val="182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44097"/>
            <a:ext cx="9853493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Надёжность: обработка ошибок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3798" y="2662357"/>
            <a:ext cx="436971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Что защищает приложение?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3798" y="3259812"/>
            <a:ext cx="6150293" cy="128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Некорректный ввод (буквы вместо числа)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Отсутствие подключения к сети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Недоступность API или таймаут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3798" y="4820603"/>
            <a:ext cx="6150293" cy="1787247"/>
          </a:xfrm>
          <a:prstGeom prst="roundRect">
            <a:avLst>
              <a:gd name="adj" fmla="val 2072"/>
            </a:avLst>
          </a:prstGeom>
          <a:solidFill>
            <a:srgbClr val="4B3F0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615" y="5172194"/>
            <a:ext cx="308491" cy="2468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5923" y="5129093"/>
            <a:ext cx="5101352" cy="113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Широкий </a:t>
            </a:r>
            <a:r>
              <a:rPr lang="en-US" sz="1900" dirty="0">
                <a:solidFill>
                  <a:srgbClr val="FFFFFF"/>
                </a:solidFill>
                <a:highlight>
                  <a:srgbClr val="1E1F2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</a:t>
            </a:r>
            <a:r>
              <a:rPr lang="en-US" sz="1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уместен здесь — пользователю важно сообщение, а не тип исключения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3929" y="2693194"/>
            <a:ext cx="6150293" cy="2714625"/>
          </a:xfrm>
          <a:prstGeom prst="roundRect">
            <a:avLst>
              <a:gd name="adj" fmla="val 1364"/>
            </a:avLst>
          </a:prstGeom>
          <a:solidFill>
            <a:srgbClr val="1E1F20"/>
          </a:solidFill>
          <a:ln/>
        </p:spPr>
      </p:sp>
      <p:sp>
        <p:nvSpPr>
          <p:cNvPr id="9" name="Shape 6"/>
          <p:cNvSpPr/>
          <p:nvPr/>
        </p:nvSpPr>
        <p:spPr>
          <a:xfrm>
            <a:off x="7611666" y="2693194"/>
            <a:ext cx="6174819" cy="2714625"/>
          </a:xfrm>
          <a:prstGeom prst="roundRect">
            <a:avLst>
              <a:gd name="adj" fmla="val 1364"/>
            </a:avLst>
          </a:prstGeom>
          <a:solidFill>
            <a:srgbClr val="1E1F20"/>
          </a:solidFill>
          <a:ln/>
        </p:spPr>
      </p:sp>
      <p:sp>
        <p:nvSpPr>
          <p:cNvPr id="10" name="Text 7"/>
          <p:cNvSpPr/>
          <p:nvPr/>
        </p:nvSpPr>
        <p:spPr>
          <a:xfrm>
            <a:off x="7920157" y="2940010"/>
            <a:ext cx="5557838" cy="2220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except: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messagebox.showerror(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"Ошибка",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"Введите число или "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"проверьте связь"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)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3929" y="5685473"/>
            <a:ext cx="615029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Простое диалоговое окно сообщает о проблеме без технических деталей — понятно любому пользователю.</a:t>
            </a:r>
            <a:endParaRPr lang="en-US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C5B3F-6A13-4C66-B232-D7CD514FDD8E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31089" y="663491"/>
            <a:ext cx="7444145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Источники и документация</a:t>
            </a:r>
            <a:endParaRPr lang="en-US" sz="38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ADDDA0-818F-4288-9E51-1782542B770D}"/>
              </a:ext>
            </a:extLst>
          </p:cNvPr>
          <p:cNvSpPr txBox="1"/>
          <p:nvPr/>
        </p:nvSpPr>
        <p:spPr>
          <a:xfrm>
            <a:off x="12711165" y="7787473"/>
            <a:ext cx="1828800" cy="369332"/>
          </a:xfrm>
          <a:prstGeom prst="rect">
            <a:avLst/>
          </a:prstGeom>
          <a:solidFill>
            <a:srgbClr val="111213"/>
          </a:solidFill>
        </p:spPr>
        <p:txBody>
          <a:bodyPr wrap="square" rtlCol="0">
            <a:spAutoFit/>
          </a:bodyPr>
          <a:lstStyle/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F34778-429F-4FF8-BE7E-5D4E7A57E394}"/>
              </a:ext>
            </a:extLst>
          </p:cNvPr>
          <p:cNvSpPr txBox="1"/>
          <p:nvPr/>
        </p:nvSpPr>
        <p:spPr>
          <a:xfrm>
            <a:off x="1215342" y="1435261"/>
            <a:ext cx="12199716" cy="6004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Лутц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М.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«Изучаем Python», 5-е издание. — Пер. с англ. — СПб.: ООО “Диалектика”, 2020.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(Классика для подтверждения базы языка).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Шипман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Дж. У.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«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8.5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GUI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Python». — New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Mexico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Tech Computer Center, 2023.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(Основной источник по графическому интерфейсу).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Документация библиотеки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Requests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[Электронный ресурс]. URL: https://requests.readthedocs.io/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(Для обоснования работы с сетевыми запросами).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Официальная документация Python (Модуль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threading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[Электронный ресурс]. URL: https://docs.python.org/3/library/threading.html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(Для подтверждения теории многопоточности).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Спецификация API 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ExchangeRate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-API.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[Электронный ресурс]. URL: https://www.exchangerate-api.com/docs/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(Описание источника данных для курсов валют).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Стандарт оформления кода PEP 8.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[Электронный ресурс]. URL: https://peps.python.org/pep-0008/ </a:t>
            </a:r>
            <a:r>
              <a:rPr kumimoji="0" lang="ru-RU" altLang="ru-RU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(Чтобы показать, что ты придерживался мировых стандартов написания кода).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867</Words>
  <Application>Microsoft Office PowerPoint</Application>
  <PresentationFormat>Произвольный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Office Theme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milop</dc:creator>
  <cp:lastModifiedBy>vsevolod.batiev@gmail.com</cp:lastModifiedBy>
  <cp:revision>13</cp:revision>
  <dcterms:created xsi:type="dcterms:W3CDTF">2026-04-16T17:05:14Z</dcterms:created>
  <dcterms:modified xsi:type="dcterms:W3CDTF">2026-04-16T20:04:18Z</dcterms:modified>
</cp:coreProperties>
</file>